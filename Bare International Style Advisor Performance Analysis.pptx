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68" r:id="rId5"/>
    <p:sldId id="263" r:id="rId6"/>
    <p:sldId id="262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1st completed.xlsx]PivotChartTable1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Average Evaluation Performance by Zone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7629458150855E-2"/>
          <c:y val="0.18460174550783867"/>
          <c:w val="0.80402758691547971"/>
          <c:h val="0.69145356479735021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4"/>
              <c:pt idx="0">
                <c:v>East</c:v>
              </c:pt>
              <c:pt idx="1">
                <c:v>North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71.571428571428569</c:v>
              </c:pt>
              <c:pt idx="1">
                <c:v>76.736842105263165</c:v>
              </c:pt>
              <c:pt idx="2">
                <c:v>66.611111111111114</c:v>
              </c:pt>
              <c:pt idx="3">
                <c:v>71.82352941176471</c:v>
              </c:pt>
            </c:numLit>
          </c:val>
          <c:extLst>
            <c:ext xmlns:c16="http://schemas.microsoft.com/office/drawing/2014/chart" uri="{C3380CC4-5D6E-409C-BE32-E72D297353CC}">
              <c16:uniqueId val="{00000000-5287-4C54-A967-3E5038F11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1851334447"/>
        <c:axId val="1851337327"/>
      </c:barChart>
      <c:catAx>
        <c:axId val="1851334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1337327"/>
        <c:crosses val="autoZero"/>
        <c:auto val="1"/>
        <c:lblAlgn val="ctr"/>
        <c:lblOffset val="100"/>
        <c:noMultiLvlLbl val="0"/>
        <c:extLst/>
      </c:catAx>
      <c:valAx>
        <c:axId val="1851337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1334447"/>
        <c:crosses val="autoZero"/>
        <c:crossBetween val="between"/>
        <c:extLst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1st completed.xlsx]Pivot Tables!PivotTable11</c:name>
    <c:fmtId val="1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1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6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7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1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</c:pivotFmts>
    <c:view3D>
      <c:rotX val="30"/>
      <c:rotY val="20"/>
      <c:depthPercent val="100"/>
      <c:rAngAx val="0"/>
      <c:perspective val="5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127104551573492E-2"/>
          <c:y val="0.27595144356955381"/>
          <c:w val="0.6889112797070579"/>
          <c:h val="0.52302785068533098"/>
        </c:manualLayout>
      </c:layout>
      <c:pie3DChart>
        <c:varyColors val="1"/>
        <c:ser>
          <c:idx val="0"/>
          <c:order val="0"/>
          <c:tx>
            <c:strRef>
              <c:f>'Pivot Tables'!$B$3:$B$4</c:f>
              <c:strCache>
                <c:ptCount val="1"/>
                <c:pt idx="0">
                  <c:v>High Performer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1-8156-438E-9B62-68E6D01717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3-8156-438E-9B62-68E6D01717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5-8156-438E-9B62-68E6D01717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7-8156-438E-9B62-68E6D01717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Tables'!$B$5:$B$9</c:f>
              <c:numCache>
                <c:formatCode>0.00%</c:formatCode>
                <c:ptCount val="4"/>
                <c:pt idx="0">
                  <c:v>0.5</c:v>
                </c:pt>
                <c:pt idx="1">
                  <c:v>0.2857142857142857</c:v>
                </c:pt>
                <c:pt idx="2">
                  <c:v>0.16666666666666666</c:v>
                </c:pt>
                <c:pt idx="3">
                  <c:v>0.13333333333333333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56-438E-9B62-68E6D0171777}"/>
            </c:ext>
          </c:extLst>
        </c:ser>
        <c:ser>
          <c:idx val="1"/>
          <c:order val="1"/>
          <c:tx>
            <c:strRef>
              <c:f>'Pivot Tables'!$C$3:$C$4</c:f>
              <c:strCache>
                <c:ptCount val="1"/>
                <c:pt idx="0">
                  <c:v>Bottom Performer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A-8156-438E-9B62-68E6D01717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C-8156-438E-9B62-68E6D01717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E-8156-438E-9B62-68E6D01717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0-8156-438E-9B62-68E6D01717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Tables'!$C$5:$C$9</c:f>
              <c:numCache>
                <c:formatCode>0.00%</c:formatCode>
                <c:ptCount val="4"/>
                <c:pt idx="0">
                  <c:v>0.25</c:v>
                </c:pt>
                <c:pt idx="1">
                  <c:v>7.1428571428571425E-2</c:v>
                </c:pt>
                <c:pt idx="2">
                  <c:v>0.25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156-438E-9B62-68E6D0171777}"/>
            </c:ext>
          </c:extLst>
        </c:ser>
        <c:ser>
          <c:idx val="2"/>
          <c:order val="2"/>
          <c:tx>
            <c:strRef>
              <c:f>'Pivot Tables'!$D$3:$D$4</c:f>
              <c:strCache>
                <c:ptCount val="1"/>
                <c:pt idx="0">
                  <c:v>Average Performer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3-8156-438E-9B62-68E6D01717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5-8156-438E-9B62-68E6D01717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7-8156-438E-9B62-68E6D01717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9-8156-438E-9B62-68E6D01717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Tables'!$D$5:$D$9</c:f>
              <c:numCache>
                <c:formatCode>0.00%</c:formatCode>
                <c:ptCount val="4"/>
                <c:pt idx="0">
                  <c:v>0.25</c:v>
                </c:pt>
                <c:pt idx="1">
                  <c:v>0.6428571428571429</c:v>
                </c:pt>
                <c:pt idx="2">
                  <c:v>0.58333333333333337</c:v>
                </c:pt>
                <c:pt idx="3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8156-438E-9B62-68E6D017177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1st completed.xlsx]Pivot Table2!PivotTable3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 Evaluation by Date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2726157237560013E-2"/>
          <c:y val="0.2147940322802063"/>
          <c:w val="0.74888491106811383"/>
          <c:h val="0.52454156713556876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Table2'!$B$3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Table2'!$A$4:$A$26</c:f>
              <c:strCache>
                <c:ptCount val="22"/>
                <c:pt idx="0">
                  <c:v>01-10-2022</c:v>
                </c:pt>
                <c:pt idx="1">
                  <c:v>06-10-2022</c:v>
                </c:pt>
                <c:pt idx="2">
                  <c:v>07-10-2022</c:v>
                </c:pt>
                <c:pt idx="3">
                  <c:v>08-10-2022</c:v>
                </c:pt>
                <c:pt idx="4">
                  <c:v>10-10-2022</c:v>
                </c:pt>
                <c:pt idx="5">
                  <c:v>11-10-2022</c:v>
                </c:pt>
                <c:pt idx="6">
                  <c:v>12-10-2022</c:v>
                </c:pt>
                <c:pt idx="7">
                  <c:v>13-10-2022</c:v>
                </c:pt>
                <c:pt idx="8">
                  <c:v>14-10-2022</c:v>
                </c:pt>
                <c:pt idx="9">
                  <c:v>15-10-2022</c:v>
                </c:pt>
                <c:pt idx="10">
                  <c:v>16-10-2022</c:v>
                </c:pt>
                <c:pt idx="11">
                  <c:v>17-10-2022</c:v>
                </c:pt>
                <c:pt idx="12">
                  <c:v>18-10-2022</c:v>
                </c:pt>
                <c:pt idx="13">
                  <c:v>19-10-2022</c:v>
                </c:pt>
                <c:pt idx="14">
                  <c:v>20-10-2022</c:v>
                </c:pt>
                <c:pt idx="15">
                  <c:v>21-10-2022</c:v>
                </c:pt>
                <c:pt idx="16">
                  <c:v>22-10-2022</c:v>
                </c:pt>
                <c:pt idx="17">
                  <c:v>23-10-2022</c:v>
                </c:pt>
                <c:pt idx="18">
                  <c:v>27-10-2022</c:v>
                </c:pt>
                <c:pt idx="19">
                  <c:v>28-10-2022</c:v>
                </c:pt>
                <c:pt idx="20">
                  <c:v>29-10-2022</c:v>
                </c:pt>
                <c:pt idx="21">
                  <c:v>30-10-2022</c:v>
                </c:pt>
              </c:strCache>
            </c:strRef>
          </c:cat>
          <c:val>
            <c:numRef>
              <c:f>'Pivot Table2'!$B$4:$B$26</c:f>
              <c:numCache>
                <c:formatCode>General</c:formatCode>
                <c:ptCount val="22"/>
                <c:pt idx="0">
                  <c:v>58</c:v>
                </c:pt>
                <c:pt idx="1">
                  <c:v>68.5</c:v>
                </c:pt>
                <c:pt idx="2">
                  <c:v>85.666666666666671</c:v>
                </c:pt>
                <c:pt idx="3">
                  <c:v>72.333333333333329</c:v>
                </c:pt>
                <c:pt idx="4">
                  <c:v>78</c:v>
                </c:pt>
                <c:pt idx="5">
                  <c:v>73</c:v>
                </c:pt>
                <c:pt idx="6">
                  <c:v>83.333333333333329</c:v>
                </c:pt>
                <c:pt idx="7">
                  <c:v>63.5</c:v>
                </c:pt>
                <c:pt idx="8">
                  <c:v>72</c:v>
                </c:pt>
                <c:pt idx="9">
                  <c:v>66</c:v>
                </c:pt>
                <c:pt idx="10">
                  <c:v>69</c:v>
                </c:pt>
                <c:pt idx="11">
                  <c:v>86</c:v>
                </c:pt>
                <c:pt idx="12">
                  <c:v>69.333333333333329</c:v>
                </c:pt>
                <c:pt idx="13">
                  <c:v>52</c:v>
                </c:pt>
                <c:pt idx="14">
                  <c:v>90.666666666666671</c:v>
                </c:pt>
                <c:pt idx="15">
                  <c:v>71</c:v>
                </c:pt>
                <c:pt idx="16">
                  <c:v>69</c:v>
                </c:pt>
                <c:pt idx="17">
                  <c:v>53</c:v>
                </c:pt>
                <c:pt idx="18">
                  <c:v>94</c:v>
                </c:pt>
                <c:pt idx="19">
                  <c:v>74.5</c:v>
                </c:pt>
                <c:pt idx="20">
                  <c:v>65</c:v>
                </c:pt>
                <c:pt idx="21">
                  <c:v>48.333333333333336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4B-4B90-851B-C1AEEB8933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8633743"/>
        <c:axId val="918634703"/>
      </c:lineChart>
      <c:catAx>
        <c:axId val="918633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34703"/>
        <c:crosses val="autoZero"/>
        <c:auto val="1"/>
        <c:lblAlgn val="ctr"/>
        <c:lblOffset val="100"/>
        <c:noMultiLvlLbl val="0"/>
      </c:catAx>
      <c:valAx>
        <c:axId val="91863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33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[Project 1st completed.xlsx]Sheet4!PivotTable5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3775132759567847E-2"/>
          <c:y val="7.3059360730593603E-2"/>
          <c:w val="0.7808448269547702"/>
          <c:h val="0.44890590730953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Sheet4!$B$3:$B$4</c:f>
              <c:strCache>
                <c:ptCount val="1"/>
                <c:pt idx="0">
                  <c:v>High Performer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Sheet4!$A$5:$A$127</c:f>
              <c:multiLvlStrCache>
                <c:ptCount val="26"/>
                <c:lvl>
                  <c:pt idx="0">
                    <c:v>100</c:v>
                  </c:pt>
                  <c:pt idx="1">
                    <c:v>100</c:v>
                  </c:pt>
                  <c:pt idx="2">
                    <c:v>100</c:v>
                  </c:pt>
                  <c:pt idx="3">
                    <c:v>75</c:v>
                  </c:pt>
                  <c:pt idx="4">
                    <c:v>100</c:v>
                  </c:pt>
                  <c:pt idx="5">
                    <c:v>88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38</c:v>
                  </c:pt>
                  <c:pt idx="10">
                    <c:v>100</c:v>
                  </c:pt>
                  <c:pt idx="11">
                    <c:v>25</c:v>
                  </c:pt>
                  <c:pt idx="12">
                    <c:v>75</c:v>
                  </c:pt>
                  <c:pt idx="13">
                    <c:v>75</c:v>
                  </c:pt>
                  <c:pt idx="14">
                    <c:v>38</c:v>
                  </c:pt>
                  <c:pt idx="15">
                    <c:v>88</c:v>
                  </c:pt>
                  <c:pt idx="16">
                    <c:v>50</c:v>
                  </c:pt>
                  <c:pt idx="17">
                    <c:v>38</c:v>
                  </c:pt>
                  <c:pt idx="18">
                    <c:v>38</c:v>
                  </c:pt>
                  <c:pt idx="19">
                    <c:v>63</c:v>
                  </c:pt>
                  <c:pt idx="20">
                    <c:v>88</c:v>
                  </c:pt>
                  <c:pt idx="21">
                    <c:v>25</c:v>
                  </c:pt>
                  <c:pt idx="22">
                    <c:v>13</c:v>
                  </c:pt>
                  <c:pt idx="23">
                    <c:v>38</c:v>
                  </c:pt>
                  <c:pt idx="24">
                    <c:v>38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1">
                    <c:v>100</c:v>
                  </c:pt>
                  <c:pt idx="2">
                    <c:v>100</c:v>
                  </c:pt>
                  <c:pt idx="3">
                    <c:v>100</c:v>
                  </c:pt>
                  <c:pt idx="5">
                    <c:v>100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100</c:v>
                  </c:pt>
                  <c:pt idx="10">
                    <c:v>100</c:v>
                  </c:pt>
                  <c:pt idx="11">
                    <c:v>33</c:v>
                  </c:pt>
                  <c:pt idx="12">
                    <c:v>0</c:v>
                  </c:pt>
                  <c:pt idx="13">
                    <c:v>0</c:v>
                  </c:pt>
                  <c:pt idx="14">
                    <c:v>100</c:v>
                  </c:pt>
                  <c:pt idx="15">
                    <c:v>0</c:v>
                  </c:pt>
                  <c:pt idx="16">
                    <c:v>0</c:v>
                  </c:pt>
                  <c:pt idx="17">
                    <c:v>67</c:v>
                  </c:pt>
                  <c:pt idx="18">
                    <c:v>67</c:v>
                  </c:pt>
                  <c:pt idx="19">
                    <c:v>67</c:v>
                  </c:pt>
                  <c:pt idx="20">
                    <c:v>33</c:v>
                  </c:pt>
                  <c:pt idx="21">
                    <c:v>100</c:v>
                  </c:pt>
                  <c:pt idx="22">
                    <c:v>67</c:v>
                  </c:pt>
                  <c:pt idx="23">
                    <c:v>100</c:v>
                  </c:pt>
                  <c:pt idx="24">
                    <c:v>100</c:v>
                  </c:pt>
                  <c:pt idx="25">
                    <c:v>100</c:v>
                  </c:pt>
                </c:lvl>
                <c:lvl>
                  <c:pt idx="0">
                    <c:v>100</c:v>
                  </c:pt>
                  <c:pt idx="1">
                    <c:v>67</c:v>
                  </c:pt>
                  <c:pt idx="2">
                    <c:v>83</c:v>
                  </c:pt>
                  <c:pt idx="3">
                    <c:v>100</c:v>
                  </c:pt>
                  <c:pt idx="5">
                    <c:v>83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50</c:v>
                  </c:pt>
                  <c:pt idx="10">
                    <c:v>83</c:v>
                  </c:pt>
                  <c:pt idx="11">
                    <c:v>50</c:v>
                  </c:pt>
                  <c:pt idx="12">
                    <c:v>50</c:v>
                  </c:pt>
                  <c:pt idx="13">
                    <c:v>50</c:v>
                  </c:pt>
                  <c:pt idx="14">
                    <c:v>17</c:v>
                  </c:pt>
                  <c:pt idx="15">
                    <c:v>50</c:v>
                  </c:pt>
                  <c:pt idx="16">
                    <c:v>17</c:v>
                  </c:pt>
                  <c:pt idx="17">
                    <c:v>50</c:v>
                  </c:pt>
                  <c:pt idx="18">
                    <c:v>83</c:v>
                  </c:pt>
                  <c:pt idx="19">
                    <c:v>50</c:v>
                  </c:pt>
                  <c:pt idx="20">
                    <c:v>50</c:v>
                  </c:pt>
                  <c:pt idx="21">
                    <c:v>50</c:v>
                  </c:pt>
                  <c:pt idx="22">
                    <c:v>50</c:v>
                  </c:pt>
                  <c:pt idx="23">
                    <c:v>83</c:v>
                  </c:pt>
                  <c:pt idx="24">
                    <c:v>83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1">
                    <c:v>88</c:v>
                  </c:pt>
                  <c:pt idx="2">
                    <c:v>75</c:v>
                  </c:pt>
                  <c:pt idx="5">
                    <c:v>63</c:v>
                  </c:pt>
                  <c:pt idx="7">
                    <c:v>88</c:v>
                  </c:pt>
                  <c:pt idx="8">
                    <c:v>75</c:v>
                  </c:pt>
                  <c:pt idx="9">
                    <c:v>50</c:v>
                  </c:pt>
                  <c:pt idx="10">
                    <c:v>100</c:v>
                  </c:pt>
                  <c:pt idx="11">
                    <c:v>63</c:v>
                  </c:pt>
                  <c:pt idx="12">
                    <c:v>50</c:v>
                  </c:pt>
                  <c:pt idx="13">
                    <c:v>43</c:v>
                  </c:pt>
                  <c:pt idx="14">
                    <c:v>25</c:v>
                  </c:pt>
                  <c:pt idx="15">
                    <c:v>50</c:v>
                  </c:pt>
                  <c:pt idx="16">
                    <c:v>57</c:v>
                  </c:pt>
                  <c:pt idx="17">
                    <c:v>43</c:v>
                  </c:pt>
                  <c:pt idx="18">
                    <c:v>38</c:v>
                  </c:pt>
                  <c:pt idx="19">
                    <c:v>43</c:v>
                  </c:pt>
                  <c:pt idx="20">
                    <c:v>38</c:v>
                  </c:pt>
                  <c:pt idx="21">
                    <c:v>57</c:v>
                  </c:pt>
                  <c:pt idx="22">
                    <c:v>38</c:v>
                  </c:pt>
                  <c:pt idx="23">
                    <c:v>38</c:v>
                  </c:pt>
                  <c:pt idx="24">
                    <c:v>63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7">
                    <c:v>90</c:v>
                  </c:pt>
                  <c:pt idx="8">
                    <c:v>89</c:v>
                  </c:pt>
                  <c:pt idx="9">
                    <c:v>78</c:v>
                  </c:pt>
                  <c:pt idx="10">
                    <c:v>100</c:v>
                  </c:pt>
                  <c:pt idx="11">
                    <c:v>89</c:v>
                  </c:pt>
                  <c:pt idx="12">
                    <c:v>78</c:v>
                  </c:pt>
                  <c:pt idx="15">
                    <c:v>67</c:v>
                  </c:pt>
                  <c:pt idx="16">
                    <c:v>56</c:v>
                  </c:pt>
                  <c:pt idx="17">
                    <c:v>78</c:v>
                  </c:pt>
                  <c:pt idx="18">
                    <c:v>67</c:v>
                  </c:pt>
                  <c:pt idx="19">
                    <c:v>78</c:v>
                  </c:pt>
                  <c:pt idx="20">
                    <c:v>67</c:v>
                  </c:pt>
                  <c:pt idx="21">
                    <c:v>33</c:v>
                  </c:pt>
                  <c:pt idx="22">
                    <c:v>78</c:v>
                  </c:pt>
                  <c:pt idx="23">
                    <c:v>89</c:v>
                  </c:pt>
                  <c:pt idx="24">
                    <c:v>80</c:v>
                  </c:pt>
                </c:lvl>
                <c:lvl>
                  <c:pt idx="0">
                    <c:v>100</c:v>
                  </c:pt>
                  <c:pt idx="10">
                    <c:v>80</c:v>
                  </c:pt>
                  <c:pt idx="17">
                    <c:v>60</c:v>
                  </c:pt>
                  <c:pt idx="19">
                    <c:v>40</c:v>
                  </c:pt>
                  <c:pt idx="22">
                    <c:v>20</c:v>
                  </c:pt>
                  <c:pt idx="23">
                    <c:v>0</c:v>
                  </c:pt>
                </c:lvl>
              </c:multiLvlStrCache>
            </c:multiLvlStrRef>
          </c:cat>
          <c:val>
            <c:numRef>
              <c:f>Sheet4!$B$5:$B$127</c:f>
              <c:numCache>
                <c:formatCode>General</c:formatCode>
                <c:ptCount val="2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78</c:v>
                </c:pt>
                <c:pt idx="5">
                  <c:v>100</c:v>
                </c:pt>
                <c:pt idx="6">
                  <c:v>100</c:v>
                </c:pt>
                <c:pt idx="7">
                  <c:v>89</c:v>
                </c:pt>
                <c:pt idx="8">
                  <c:v>100</c:v>
                </c:pt>
                <c:pt idx="1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D-453F-8B6A-480AE6D9F0A1}"/>
            </c:ext>
          </c:extLst>
        </c:ser>
        <c:ser>
          <c:idx val="1"/>
          <c:order val="1"/>
          <c:tx>
            <c:strRef>
              <c:f>Sheet4!$C$3:$C$4</c:f>
              <c:strCache>
                <c:ptCount val="1"/>
                <c:pt idx="0">
                  <c:v>Low Performer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Sheet4!$A$5:$A$127</c:f>
              <c:multiLvlStrCache>
                <c:ptCount val="26"/>
                <c:lvl>
                  <c:pt idx="0">
                    <c:v>100</c:v>
                  </c:pt>
                  <c:pt idx="1">
                    <c:v>100</c:v>
                  </c:pt>
                  <c:pt idx="2">
                    <c:v>100</c:v>
                  </c:pt>
                  <c:pt idx="3">
                    <c:v>75</c:v>
                  </c:pt>
                  <c:pt idx="4">
                    <c:v>100</c:v>
                  </c:pt>
                  <c:pt idx="5">
                    <c:v>88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38</c:v>
                  </c:pt>
                  <c:pt idx="10">
                    <c:v>100</c:v>
                  </c:pt>
                  <c:pt idx="11">
                    <c:v>25</c:v>
                  </c:pt>
                  <c:pt idx="12">
                    <c:v>75</c:v>
                  </c:pt>
                  <c:pt idx="13">
                    <c:v>75</c:v>
                  </c:pt>
                  <c:pt idx="14">
                    <c:v>38</c:v>
                  </c:pt>
                  <c:pt idx="15">
                    <c:v>88</c:v>
                  </c:pt>
                  <c:pt idx="16">
                    <c:v>50</c:v>
                  </c:pt>
                  <c:pt idx="17">
                    <c:v>38</c:v>
                  </c:pt>
                  <c:pt idx="18">
                    <c:v>38</c:v>
                  </c:pt>
                  <c:pt idx="19">
                    <c:v>63</c:v>
                  </c:pt>
                  <c:pt idx="20">
                    <c:v>88</c:v>
                  </c:pt>
                  <c:pt idx="21">
                    <c:v>25</c:v>
                  </c:pt>
                  <c:pt idx="22">
                    <c:v>13</c:v>
                  </c:pt>
                  <c:pt idx="23">
                    <c:v>38</c:v>
                  </c:pt>
                  <c:pt idx="24">
                    <c:v>38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1">
                    <c:v>100</c:v>
                  </c:pt>
                  <c:pt idx="2">
                    <c:v>100</c:v>
                  </c:pt>
                  <c:pt idx="3">
                    <c:v>100</c:v>
                  </c:pt>
                  <c:pt idx="5">
                    <c:v>100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100</c:v>
                  </c:pt>
                  <c:pt idx="10">
                    <c:v>100</c:v>
                  </c:pt>
                  <c:pt idx="11">
                    <c:v>33</c:v>
                  </c:pt>
                  <c:pt idx="12">
                    <c:v>0</c:v>
                  </c:pt>
                  <c:pt idx="13">
                    <c:v>0</c:v>
                  </c:pt>
                  <c:pt idx="14">
                    <c:v>100</c:v>
                  </c:pt>
                  <c:pt idx="15">
                    <c:v>0</c:v>
                  </c:pt>
                  <c:pt idx="16">
                    <c:v>0</c:v>
                  </c:pt>
                  <c:pt idx="17">
                    <c:v>67</c:v>
                  </c:pt>
                  <c:pt idx="18">
                    <c:v>67</c:v>
                  </c:pt>
                  <c:pt idx="19">
                    <c:v>67</c:v>
                  </c:pt>
                  <c:pt idx="20">
                    <c:v>33</c:v>
                  </c:pt>
                  <c:pt idx="21">
                    <c:v>100</c:v>
                  </c:pt>
                  <c:pt idx="22">
                    <c:v>67</c:v>
                  </c:pt>
                  <c:pt idx="23">
                    <c:v>100</c:v>
                  </c:pt>
                  <c:pt idx="24">
                    <c:v>100</c:v>
                  </c:pt>
                  <c:pt idx="25">
                    <c:v>100</c:v>
                  </c:pt>
                </c:lvl>
                <c:lvl>
                  <c:pt idx="0">
                    <c:v>100</c:v>
                  </c:pt>
                  <c:pt idx="1">
                    <c:v>67</c:v>
                  </c:pt>
                  <c:pt idx="2">
                    <c:v>83</c:v>
                  </c:pt>
                  <c:pt idx="3">
                    <c:v>100</c:v>
                  </c:pt>
                  <c:pt idx="5">
                    <c:v>83</c:v>
                  </c:pt>
                  <c:pt idx="6">
                    <c:v>100</c:v>
                  </c:pt>
                  <c:pt idx="7">
                    <c:v>100</c:v>
                  </c:pt>
                  <c:pt idx="8">
                    <c:v>100</c:v>
                  </c:pt>
                  <c:pt idx="9">
                    <c:v>50</c:v>
                  </c:pt>
                  <c:pt idx="10">
                    <c:v>83</c:v>
                  </c:pt>
                  <c:pt idx="11">
                    <c:v>50</c:v>
                  </c:pt>
                  <c:pt idx="12">
                    <c:v>50</c:v>
                  </c:pt>
                  <c:pt idx="13">
                    <c:v>50</c:v>
                  </c:pt>
                  <c:pt idx="14">
                    <c:v>17</c:v>
                  </c:pt>
                  <c:pt idx="15">
                    <c:v>50</c:v>
                  </c:pt>
                  <c:pt idx="16">
                    <c:v>17</c:v>
                  </c:pt>
                  <c:pt idx="17">
                    <c:v>50</c:v>
                  </c:pt>
                  <c:pt idx="18">
                    <c:v>83</c:v>
                  </c:pt>
                  <c:pt idx="19">
                    <c:v>50</c:v>
                  </c:pt>
                  <c:pt idx="20">
                    <c:v>50</c:v>
                  </c:pt>
                  <c:pt idx="21">
                    <c:v>50</c:v>
                  </c:pt>
                  <c:pt idx="22">
                    <c:v>50</c:v>
                  </c:pt>
                  <c:pt idx="23">
                    <c:v>83</c:v>
                  </c:pt>
                  <c:pt idx="24">
                    <c:v>83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1">
                    <c:v>88</c:v>
                  </c:pt>
                  <c:pt idx="2">
                    <c:v>75</c:v>
                  </c:pt>
                  <c:pt idx="5">
                    <c:v>63</c:v>
                  </c:pt>
                  <c:pt idx="7">
                    <c:v>88</c:v>
                  </c:pt>
                  <c:pt idx="8">
                    <c:v>75</c:v>
                  </c:pt>
                  <c:pt idx="9">
                    <c:v>50</c:v>
                  </c:pt>
                  <c:pt idx="10">
                    <c:v>100</c:v>
                  </c:pt>
                  <c:pt idx="11">
                    <c:v>63</c:v>
                  </c:pt>
                  <c:pt idx="12">
                    <c:v>50</c:v>
                  </c:pt>
                  <c:pt idx="13">
                    <c:v>43</c:v>
                  </c:pt>
                  <c:pt idx="14">
                    <c:v>25</c:v>
                  </c:pt>
                  <c:pt idx="15">
                    <c:v>50</c:v>
                  </c:pt>
                  <c:pt idx="16">
                    <c:v>57</c:v>
                  </c:pt>
                  <c:pt idx="17">
                    <c:v>43</c:v>
                  </c:pt>
                  <c:pt idx="18">
                    <c:v>38</c:v>
                  </c:pt>
                  <c:pt idx="19">
                    <c:v>43</c:v>
                  </c:pt>
                  <c:pt idx="20">
                    <c:v>38</c:v>
                  </c:pt>
                  <c:pt idx="21">
                    <c:v>57</c:v>
                  </c:pt>
                  <c:pt idx="22">
                    <c:v>38</c:v>
                  </c:pt>
                  <c:pt idx="23">
                    <c:v>38</c:v>
                  </c:pt>
                  <c:pt idx="24">
                    <c:v>63</c:v>
                  </c:pt>
                  <c:pt idx="25">
                    <c:v>50</c:v>
                  </c:pt>
                </c:lvl>
                <c:lvl>
                  <c:pt idx="0">
                    <c:v>100</c:v>
                  </c:pt>
                  <c:pt idx="7">
                    <c:v>90</c:v>
                  </c:pt>
                  <c:pt idx="8">
                    <c:v>89</c:v>
                  </c:pt>
                  <c:pt idx="9">
                    <c:v>78</c:v>
                  </c:pt>
                  <c:pt idx="10">
                    <c:v>100</c:v>
                  </c:pt>
                  <c:pt idx="11">
                    <c:v>89</c:v>
                  </c:pt>
                  <c:pt idx="12">
                    <c:v>78</c:v>
                  </c:pt>
                  <c:pt idx="15">
                    <c:v>67</c:v>
                  </c:pt>
                  <c:pt idx="16">
                    <c:v>56</c:v>
                  </c:pt>
                  <c:pt idx="17">
                    <c:v>78</c:v>
                  </c:pt>
                  <c:pt idx="18">
                    <c:v>67</c:v>
                  </c:pt>
                  <c:pt idx="19">
                    <c:v>78</c:v>
                  </c:pt>
                  <c:pt idx="20">
                    <c:v>67</c:v>
                  </c:pt>
                  <c:pt idx="21">
                    <c:v>33</c:v>
                  </c:pt>
                  <c:pt idx="22">
                    <c:v>78</c:v>
                  </c:pt>
                  <c:pt idx="23">
                    <c:v>89</c:v>
                  </c:pt>
                  <c:pt idx="24">
                    <c:v>80</c:v>
                  </c:pt>
                </c:lvl>
                <c:lvl>
                  <c:pt idx="0">
                    <c:v>100</c:v>
                  </c:pt>
                  <c:pt idx="10">
                    <c:v>80</c:v>
                  </c:pt>
                  <c:pt idx="17">
                    <c:v>60</c:v>
                  </c:pt>
                  <c:pt idx="19">
                    <c:v>40</c:v>
                  </c:pt>
                  <c:pt idx="22">
                    <c:v>20</c:v>
                  </c:pt>
                  <c:pt idx="23">
                    <c:v>0</c:v>
                  </c:pt>
                </c:lvl>
              </c:multiLvlStrCache>
            </c:multiLvlStrRef>
          </c:cat>
          <c:val>
            <c:numRef>
              <c:f>Sheet4!$C$5:$C$127</c:f>
              <c:numCache>
                <c:formatCode>General</c:formatCode>
                <c:ptCount val="26"/>
                <c:pt idx="9">
                  <c:v>89</c:v>
                </c:pt>
                <c:pt idx="11">
                  <c:v>89</c:v>
                </c:pt>
                <c:pt idx="12">
                  <c:v>100</c:v>
                </c:pt>
                <c:pt idx="13">
                  <c:v>89</c:v>
                </c:pt>
                <c:pt idx="14">
                  <c:v>89</c:v>
                </c:pt>
                <c:pt idx="15">
                  <c:v>100</c:v>
                </c:pt>
                <c:pt idx="16">
                  <c:v>100</c:v>
                </c:pt>
                <c:pt idx="17">
                  <c:v>78</c:v>
                </c:pt>
                <c:pt idx="18">
                  <c:v>78</c:v>
                </c:pt>
                <c:pt idx="19">
                  <c:v>89</c:v>
                </c:pt>
                <c:pt idx="20">
                  <c:v>78</c:v>
                </c:pt>
                <c:pt idx="21">
                  <c:v>78</c:v>
                </c:pt>
                <c:pt idx="22">
                  <c:v>89</c:v>
                </c:pt>
                <c:pt idx="23">
                  <c:v>78</c:v>
                </c:pt>
                <c:pt idx="24">
                  <c:v>89</c:v>
                </c:pt>
                <c:pt idx="2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ED-453F-8B6A-480AE6D9F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8678863"/>
        <c:axId val="918666383"/>
      </c:barChart>
      <c:catAx>
        <c:axId val="91867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66383"/>
        <c:crosses val="autoZero"/>
        <c:auto val="1"/>
        <c:lblAlgn val="ctr"/>
        <c:lblOffset val="100"/>
        <c:noMultiLvlLbl val="0"/>
      </c:catAx>
      <c:valAx>
        <c:axId val="91866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78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21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96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8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20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58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60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39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4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25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78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39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245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724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841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0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0777669-899D-4DF9-9FAC-F0161F2CA8E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1BDE6F-C5CC-4066-8C8A-30DFE4A85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98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E809-863C-A749-827B-5797EB42D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/>
          </a:solidFill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Bare International Style Advisor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38BB9-6BC6-505A-A4CF-C25AF314E4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Evaluation of Style Advisor Performance and Actionable Recommendations</a:t>
            </a:r>
          </a:p>
          <a:p>
            <a:r>
              <a:rPr lang="en-US" b="1" dirty="0"/>
              <a:t>By :- Priyanka Mathur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0D4A4-76F4-755E-9696-1850094F43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007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6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F4EB-2AD8-4480-DEA0-670B537B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65" y="3056438"/>
            <a:ext cx="3136784" cy="745124"/>
          </a:xfrm>
        </p:spPr>
        <p:txBody>
          <a:bodyPr>
            <a:normAutofit/>
          </a:bodyPr>
          <a:lstStyle/>
          <a:p>
            <a:r>
              <a:rPr lang="en-IN" sz="2800" dirty="0"/>
              <a:t>Table Of Content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B21C0-8CF2-8648-14D8-BEA5019BE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914134" y="-76781"/>
            <a:ext cx="7370432" cy="7011562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3E556D-ED49-A4FD-48BC-FBFB23CD8B0E}"/>
              </a:ext>
            </a:extLst>
          </p:cNvPr>
          <p:cNvSpPr/>
          <p:nvPr/>
        </p:nvSpPr>
        <p:spPr>
          <a:xfrm>
            <a:off x="5142733" y="392762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2F010B-702B-2598-B5D2-1F14F615D345}"/>
              </a:ext>
            </a:extLst>
          </p:cNvPr>
          <p:cNvSpPr/>
          <p:nvPr/>
        </p:nvSpPr>
        <p:spPr>
          <a:xfrm>
            <a:off x="5142733" y="1035668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F72838-6DFF-C030-AED3-DA0B1283689D}"/>
              </a:ext>
            </a:extLst>
          </p:cNvPr>
          <p:cNvSpPr txBox="1"/>
          <p:nvPr/>
        </p:nvSpPr>
        <p:spPr>
          <a:xfrm>
            <a:off x="5443442" y="309355"/>
            <a:ext cx="612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INTRODUCTION &amp;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8A74C-CD02-4407-06B4-10D5C45DEA6B}"/>
              </a:ext>
            </a:extLst>
          </p:cNvPr>
          <p:cNvSpPr txBox="1"/>
          <p:nvPr/>
        </p:nvSpPr>
        <p:spPr>
          <a:xfrm>
            <a:off x="5443442" y="95226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Overview &amp; Performance Grading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CF0BE7-7F16-741A-014B-E85B328C4260}"/>
              </a:ext>
            </a:extLst>
          </p:cNvPr>
          <p:cNvSpPr/>
          <p:nvPr/>
        </p:nvSpPr>
        <p:spPr>
          <a:xfrm>
            <a:off x="5142733" y="1678574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69927C-2877-4869-F1D6-0EE3BD4FB68D}"/>
              </a:ext>
            </a:extLst>
          </p:cNvPr>
          <p:cNvSpPr txBox="1"/>
          <p:nvPr/>
        </p:nvSpPr>
        <p:spPr>
          <a:xfrm>
            <a:off x="5471059" y="1595167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Pivot Table Analysis: Regional Average Score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84706D-C669-530D-AF7C-1022C1C551F9}"/>
              </a:ext>
            </a:extLst>
          </p:cNvPr>
          <p:cNvSpPr/>
          <p:nvPr/>
        </p:nvSpPr>
        <p:spPr>
          <a:xfrm>
            <a:off x="5142733" y="2321480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D57A7-FFF1-F0BD-5C38-39422A6F3763}"/>
              </a:ext>
            </a:extLst>
          </p:cNvPr>
          <p:cNvSpPr txBox="1"/>
          <p:nvPr/>
        </p:nvSpPr>
        <p:spPr>
          <a:xfrm>
            <a:off x="5448046" y="2238073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Performer Analysis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16348D-A03E-E126-0027-06D44F6B18EA}"/>
              </a:ext>
            </a:extLst>
          </p:cNvPr>
          <p:cNvSpPr/>
          <p:nvPr/>
        </p:nvSpPr>
        <p:spPr>
          <a:xfrm>
            <a:off x="5142733" y="2964386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0C6E7-E4DF-9B60-86DB-6000625DF4E2}"/>
              </a:ext>
            </a:extLst>
          </p:cNvPr>
          <p:cNvSpPr txBox="1"/>
          <p:nvPr/>
        </p:nvSpPr>
        <p:spPr>
          <a:xfrm>
            <a:off x="5471059" y="2862825"/>
            <a:ext cx="6173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Visualizations (Performance Over Time)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BD2DC7-C843-8FFD-771F-DDEE3E6708EA}"/>
              </a:ext>
            </a:extLst>
          </p:cNvPr>
          <p:cNvSpPr/>
          <p:nvPr/>
        </p:nvSpPr>
        <p:spPr>
          <a:xfrm>
            <a:off x="5142733" y="3607292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157431-070E-42D5-A1B3-F706B2057211}"/>
              </a:ext>
            </a:extLst>
          </p:cNvPr>
          <p:cNvSpPr txBox="1"/>
          <p:nvPr/>
        </p:nvSpPr>
        <p:spPr>
          <a:xfrm>
            <a:off x="5443442" y="3551935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Visualizations (Criteria Breakdown)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170FB0-5B30-D4BA-F736-74EEC2491F52}"/>
              </a:ext>
            </a:extLst>
          </p:cNvPr>
          <p:cNvSpPr/>
          <p:nvPr/>
        </p:nvSpPr>
        <p:spPr>
          <a:xfrm>
            <a:off x="5142733" y="4250198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024F43-A5AF-65F5-34FF-2EAF16E51762}"/>
              </a:ext>
            </a:extLst>
          </p:cNvPr>
          <p:cNvSpPr txBox="1"/>
          <p:nvPr/>
        </p:nvSpPr>
        <p:spPr>
          <a:xfrm>
            <a:off x="5471059" y="4142518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Visualizations (High vs. Low Comparison)</a:t>
            </a:r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F709FE-3620-5C33-497A-BE97E8324495}"/>
              </a:ext>
            </a:extLst>
          </p:cNvPr>
          <p:cNvSpPr/>
          <p:nvPr/>
        </p:nvSpPr>
        <p:spPr>
          <a:xfrm>
            <a:off x="5142733" y="4893104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95839B-46E3-FA9A-9AC7-6363F603C89A}"/>
              </a:ext>
            </a:extLst>
          </p:cNvPr>
          <p:cNvSpPr txBox="1"/>
          <p:nvPr/>
        </p:nvSpPr>
        <p:spPr>
          <a:xfrm>
            <a:off x="5471059" y="4816688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Insights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79742E8-F340-1BFB-5B85-DABC445C1391}"/>
              </a:ext>
            </a:extLst>
          </p:cNvPr>
          <p:cNvSpPr/>
          <p:nvPr/>
        </p:nvSpPr>
        <p:spPr>
          <a:xfrm>
            <a:off x="5142733" y="5536010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94DABF-5C37-F3AC-E79A-E6C64517C935}"/>
              </a:ext>
            </a:extLst>
          </p:cNvPr>
          <p:cNvSpPr txBox="1"/>
          <p:nvPr/>
        </p:nvSpPr>
        <p:spPr>
          <a:xfrm>
            <a:off x="5471059" y="5422211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Recommendations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488AFEA-6212-B43C-DFB2-F30D3E33515D}"/>
              </a:ext>
            </a:extLst>
          </p:cNvPr>
          <p:cNvSpPr/>
          <p:nvPr/>
        </p:nvSpPr>
        <p:spPr>
          <a:xfrm>
            <a:off x="5142733" y="6211364"/>
            <a:ext cx="177970" cy="202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EE48A5-CAB6-EE8E-0E7C-7088DB2A67E1}"/>
              </a:ext>
            </a:extLst>
          </p:cNvPr>
          <p:cNvSpPr txBox="1"/>
          <p:nvPr/>
        </p:nvSpPr>
        <p:spPr>
          <a:xfrm>
            <a:off x="5471059" y="6127957"/>
            <a:ext cx="61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93549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790D-4207-85D3-3B73-F01ADA3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00" y="80872"/>
            <a:ext cx="11267370" cy="527775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     </a:t>
            </a:r>
            <a:r>
              <a:rPr lang="en-IN" sz="2700" b="1" dirty="0"/>
              <a:t>-----------------INTRODUCTION--------------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001DE-A9EF-830D-D149-36B012497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83" y="0"/>
            <a:ext cx="3326857" cy="68917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6BF6D-C295-03A5-65CF-C0C189166837}"/>
              </a:ext>
            </a:extLst>
          </p:cNvPr>
          <p:cNvSpPr txBox="1"/>
          <p:nvPr/>
        </p:nvSpPr>
        <p:spPr>
          <a:xfrm>
            <a:off x="3462696" y="586762"/>
            <a:ext cx="85118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Goal</a:t>
            </a:r>
          </a:p>
          <a:p>
            <a:endParaRPr lang="en-US" dirty="0"/>
          </a:p>
          <a:p>
            <a:r>
              <a:rPr lang="en-US" dirty="0"/>
              <a:t>The primary goal is to understand performance levels across different zones and identify specific, measurable areas for improvement.</a:t>
            </a:r>
          </a:p>
          <a:p>
            <a:endParaRPr lang="en-US" b="1" dirty="0"/>
          </a:p>
          <a:p>
            <a:r>
              <a:rPr lang="en-US" b="1" dirty="0"/>
              <a:t>Evaluation Scope</a:t>
            </a:r>
          </a:p>
          <a:p>
            <a:r>
              <a:rPr lang="en-US" dirty="0"/>
              <a:t>The analysis utilizes evaluation data covering the entire customer journey,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Ambience &amp; First Impressions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Discovery of Customer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Trial Experience &amp; Up-selling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Objection Handling &amp; Closure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71D08-A01C-FCE8-7E32-0BA9B47EDEE0}"/>
              </a:ext>
            </a:extLst>
          </p:cNvPr>
          <p:cNvSpPr txBox="1"/>
          <p:nvPr/>
        </p:nvSpPr>
        <p:spPr>
          <a:xfrm>
            <a:off x="3348058" y="3710695"/>
            <a:ext cx="85732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dirty="0"/>
              <a:t>  </a:t>
            </a:r>
            <a:r>
              <a:rPr lang="en-US" sz="2400" b="1" dirty="0"/>
              <a:t>-----------------------OBJECTIVES------------------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93F7880-204E-E032-99A9-83974C095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972" y="5314968"/>
            <a:ext cx="8511898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0B8F88C-D989-4548-8541-ADA86E67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1483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8C97C-AA71-C68B-F83A-D4B1E5FB87C1}"/>
              </a:ext>
            </a:extLst>
          </p:cNvPr>
          <p:cNvSpPr txBox="1"/>
          <p:nvPr/>
        </p:nvSpPr>
        <p:spPr>
          <a:xfrm>
            <a:off x="3462696" y="4117037"/>
            <a:ext cx="834399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Performance Grading:-</a:t>
            </a:r>
            <a:r>
              <a:rPr lang="en-IN" sz="1600" dirty="0"/>
              <a:t> </a:t>
            </a:r>
            <a:r>
              <a:rPr lang="en-IN" sz="1400" dirty="0"/>
              <a:t>To assign clear performance tiers (High, Average, Low, Bottom Performer to every 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Pivot table Analysis:-</a:t>
            </a:r>
            <a:r>
              <a:rPr lang="en-IN" sz="1600" dirty="0"/>
              <a:t> Regional Performance:- </a:t>
            </a:r>
            <a:r>
              <a:rPr lang="en-IN" sz="1400" dirty="0"/>
              <a:t>To analyse the average </a:t>
            </a:r>
            <a:r>
              <a:rPr lang="en-IN" sz="1400" dirty="0" err="1"/>
              <a:t>Evaluation_Score</a:t>
            </a:r>
            <a:r>
              <a:rPr lang="en-IN" sz="1400" dirty="0"/>
              <a:t>  by Zone to identify which region are performing the above or below the overall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High Performer Identification:-</a:t>
            </a:r>
            <a:r>
              <a:rPr lang="en-IN" sz="1400" dirty="0"/>
              <a:t>To determine which zone has the highest concentration (percentage) of High Performers to establish a benchmark for best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Visualisation:- </a:t>
            </a:r>
            <a:r>
              <a:rPr lang="en-IN" sz="1400" dirty="0"/>
              <a:t>To create five distinct visualisations to highlight key trends and data gaps.</a:t>
            </a:r>
            <a:endParaRPr lang="en-IN" sz="1600" b="1" dirty="0"/>
          </a:p>
          <a:p>
            <a:endParaRPr lang="en-IN" sz="14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DAA41B1-2E5F-59CF-F1AA-DFFE48219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1483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39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5CD8-32A2-4B2D-5AE7-8847D7A4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52" y="150719"/>
            <a:ext cx="7722393" cy="385763"/>
          </a:xfrm>
        </p:spPr>
        <p:txBody>
          <a:bodyPr>
            <a:noAutofit/>
          </a:bodyPr>
          <a:lstStyle/>
          <a:p>
            <a:r>
              <a:rPr lang="en-US" sz="2400" b="1" dirty="0"/>
              <a:t>-------------Data Overview------------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53CD9B-2597-294E-F611-98F634569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25" cy="6858000"/>
          </a:xfr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A8702CC-9406-FCDF-E0E3-3CAAF537D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1038016"/>
            <a:ext cx="2423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644A7FA-B56D-A387-516F-35E74E045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687201"/>
            <a:ext cx="825418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Bare International Style Advisor Evaluations (Clean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61 Evaluations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Period: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October 2022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includes scores for 10 distinct evaluation criteria across 4 Zones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(North, East, South, West).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Overall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collective average evaluation score across 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zones is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55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A5D9-7850-FB8A-9C94-37C1209C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25" y="64295"/>
            <a:ext cx="8243888" cy="514350"/>
          </a:xfrm>
        </p:spPr>
        <p:txBody>
          <a:bodyPr>
            <a:noAutofit/>
          </a:bodyPr>
          <a:lstStyle/>
          <a:p>
            <a:r>
              <a:rPr lang="en-US" sz="2400" b="1" dirty="0"/>
              <a:t>-------------Performance Grading Scale----------------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BBF733-504D-957F-A1CB-72DBC99BC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36181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99C660-2CC0-E81D-95E1-44421EE9A0DB}"/>
              </a:ext>
            </a:extLst>
          </p:cNvPr>
          <p:cNvSpPr txBox="1"/>
          <p:nvPr/>
        </p:nvSpPr>
        <p:spPr>
          <a:xfrm>
            <a:off x="3991570" y="578645"/>
            <a:ext cx="6097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All advisors were assigned a grade based on there </a:t>
            </a:r>
            <a:r>
              <a:rPr lang="en-IN" sz="1400" dirty="0" err="1"/>
              <a:t>Evaluation_Score</a:t>
            </a:r>
            <a:r>
              <a:rPr lang="en-IN" sz="1400" dirty="0"/>
              <a:t>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6BC4EF-25A0-B7CC-30B5-B861298B4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572992"/>
              </p:ext>
            </p:extLst>
          </p:nvPr>
        </p:nvGraphicFramePr>
        <p:xfrm>
          <a:off x="3991570" y="988219"/>
          <a:ext cx="4768382" cy="1859280"/>
        </p:xfrm>
        <a:graphic>
          <a:graphicData uri="http://schemas.openxmlformats.org/drawingml/2006/table">
            <a:tbl>
              <a:tblPr/>
              <a:tblGrid>
                <a:gridCol w="2277976">
                  <a:extLst>
                    <a:ext uri="{9D8B030D-6E8A-4147-A177-3AD203B41FA5}">
                      <a16:colId xmlns:a16="http://schemas.microsoft.com/office/drawing/2014/main" val="3982872972"/>
                    </a:ext>
                  </a:extLst>
                </a:gridCol>
                <a:gridCol w="2490406">
                  <a:extLst>
                    <a:ext uri="{9D8B030D-6E8A-4147-A177-3AD203B41FA5}">
                      <a16:colId xmlns:a16="http://schemas.microsoft.com/office/drawing/2014/main" val="2744692413"/>
                    </a:ext>
                  </a:extLst>
                </a:gridCol>
              </a:tblGrid>
              <a:tr h="54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Performance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Evaluation Score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237448"/>
                  </a:ext>
                </a:extLst>
              </a:tr>
              <a:tr h="261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High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90% - 100%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536537"/>
                  </a:ext>
                </a:extLst>
              </a:tr>
              <a:tr h="261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Average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70% - 89%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565086"/>
                  </a:ext>
                </a:extLst>
              </a:tr>
              <a:tr h="261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Low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50% - 69%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2142"/>
                  </a:ext>
                </a:extLst>
              </a:tr>
              <a:tr h="18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Bottom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Below 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3154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0FD1CC5-06D0-75F9-A786-7BAB3D513E17}"/>
              </a:ext>
            </a:extLst>
          </p:cNvPr>
          <p:cNvSpPr txBox="1"/>
          <p:nvPr/>
        </p:nvSpPr>
        <p:spPr>
          <a:xfrm>
            <a:off x="3991570" y="3078479"/>
            <a:ext cx="785276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-------------------------Overall Performance-----------------------</a:t>
            </a:r>
          </a:p>
          <a:p>
            <a:endParaRPr lang="en-IN" sz="1400" b="1" dirty="0"/>
          </a:p>
          <a:p>
            <a:r>
              <a:rPr lang="en-IN" sz="1400" b="1" dirty="0"/>
              <a:t>Performance               Percentage Of  total                Key Takeaway  </a:t>
            </a:r>
          </a:p>
          <a:p>
            <a:r>
              <a:rPr lang="en-IN" sz="1400" b="1" dirty="0"/>
              <a:t>Grade </a:t>
            </a:r>
          </a:p>
          <a:p>
            <a:endParaRPr lang="en-IN" sz="1400" dirty="0"/>
          </a:p>
          <a:p>
            <a:r>
              <a:rPr lang="en-IN" sz="1400" dirty="0"/>
              <a:t>Average Performer                       44.3%                                          Largest single group; represent the core opportunity for</a:t>
            </a:r>
          </a:p>
          <a:p>
            <a:r>
              <a:rPr lang="en-IN" sz="1400" dirty="0"/>
              <a:t>                                                                                                                      improvement. </a:t>
            </a:r>
          </a:p>
          <a:p>
            <a:r>
              <a:rPr lang="en-IN" sz="1400" dirty="0"/>
              <a:t>Low Performer                                26.2%                                         Significant portion needing immediate intervention </a:t>
            </a:r>
          </a:p>
          <a:p>
            <a:r>
              <a:rPr lang="en-IN" sz="1400" dirty="0"/>
              <a:t>High Performer                               16.4%                                         Smallest group but crucial for defining best practices </a:t>
            </a:r>
          </a:p>
          <a:p>
            <a:r>
              <a:rPr lang="en-IN" sz="1400" dirty="0"/>
              <a:t>Bottom Performer                         13.1%                                          Requires targeted training or coaching plan.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8710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3EB7CD-72B4-C540-1893-A08FC1D2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861" y="117982"/>
            <a:ext cx="8856662" cy="428625"/>
          </a:xfrm>
        </p:spPr>
        <p:txBody>
          <a:bodyPr>
            <a:noAutofit/>
          </a:bodyPr>
          <a:lstStyle/>
          <a:p>
            <a:r>
              <a:rPr lang="en-IN" sz="2400" b="1" dirty="0"/>
              <a:t>---------Pivot Table Analysis----------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38599C-9F52-522A-95BB-38D4A9317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821906" cy="700801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01432-3755-2762-AAED-490053D6AACF}"/>
              </a:ext>
            </a:extLst>
          </p:cNvPr>
          <p:cNvSpPr txBox="1"/>
          <p:nvPr/>
        </p:nvSpPr>
        <p:spPr>
          <a:xfrm>
            <a:off x="3970139" y="664590"/>
            <a:ext cx="534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Regional Average Score:-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15941A-98A5-EC1D-E671-91FAC8DBC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3680"/>
              </p:ext>
            </p:extLst>
          </p:nvPr>
        </p:nvGraphicFramePr>
        <p:xfrm>
          <a:off x="4073921" y="1362221"/>
          <a:ext cx="7683101" cy="26172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9124">
                  <a:extLst>
                    <a:ext uri="{9D8B030D-6E8A-4147-A177-3AD203B41FA5}">
                      <a16:colId xmlns:a16="http://schemas.microsoft.com/office/drawing/2014/main" val="2547427599"/>
                    </a:ext>
                  </a:extLst>
                </a:gridCol>
                <a:gridCol w="1476843">
                  <a:extLst>
                    <a:ext uri="{9D8B030D-6E8A-4147-A177-3AD203B41FA5}">
                      <a16:colId xmlns:a16="http://schemas.microsoft.com/office/drawing/2014/main" val="2124385848"/>
                    </a:ext>
                  </a:extLst>
                </a:gridCol>
                <a:gridCol w="1582332">
                  <a:extLst>
                    <a:ext uri="{9D8B030D-6E8A-4147-A177-3AD203B41FA5}">
                      <a16:colId xmlns:a16="http://schemas.microsoft.com/office/drawing/2014/main" val="880830139"/>
                    </a:ext>
                  </a:extLst>
                </a:gridCol>
                <a:gridCol w="1617495">
                  <a:extLst>
                    <a:ext uri="{9D8B030D-6E8A-4147-A177-3AD203B41FA5}">
                      <a16:colId xmlns:a16="http://schemas.microsoft.com/office/drawing/2014/main" val="2919095828"/>
                    </a:ext>
                  </a:extLst>
                </a:gridCol>
                <a:gridCol w="1037307">
                  <a:extLst>
                    <a:ext uri="{9D8B030D-6E8A-4147-A177-3AD203B41FA5}">
                      <a16:colId xmlns:a16="http://schemas.microsoft.com/office/drawing/2014/main" val="1357636247"/>
                    </a:ext>
                  </a:extLst>
                </a:gridCol>
              </a:tblGrid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Count of </a:t>
                      </a:r>
                      <a:r>
                        <a:rPr lang="en-IN" sz="1100" u="none" strike="noStrike" dirty="0" err="1">
                          <a:effectLst/>
                        </a:rPr>
                        <a:t>Evaluation_ID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Column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8229892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Row Labels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High Performer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Bottom Performer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Performer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0651653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East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0500304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North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28.57%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7.14%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64.29%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4167214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South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16.67%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25.00%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58.33%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100.00%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0118435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13.33%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20.00%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66.67%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100.00%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6124373"/>
                  </a:ext>
                </a:extLst>
              </a:tr>
              <a:tr h="373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22.22%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17.78%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60.00%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100.00%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59191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034BFD-C10B-697E-36C0-D3B8E3E46DE4}"/>
              </a:ext>
            </a:extLst>
          </p:cNvPr>
          <p:cNvSpPr txBox="1"/>
          <p:nvPr/>
        </p:nvSpPr>
        <p:spPr>
          <a:xfrm>
            <a:off x="3970139" y="4215480"/>
            <a:ext cx="77868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Key finding:- </a:t>
            </a:r>
            <a:r>
              <a:rPr lang="en-US" sz="1400" dirty="0"/>
              <a:t>The North Zone is the overall performance leader, while the South Zone is significantly lagging, creating a large performance gap across the organization.</a:t>
            </a:r>
            <a:endParaRPr lang="en-IN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A4DBA-DEA5-CB79-D459-18EF0C608D83}"/>
              </a:ext>
            </a:extLst>
          </p:cNvPr>
          <p:cNvSpPr txBox="1"/>
          <p:nvPr/>
        </p:nvSpPr>
        <p:spPr>
          <a:xfrm>
            <a:off x="3970139" y="4738700"/>
            <a:ext cx="6097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Contrast:-  Largest Variance –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AE9F9-9AAB-D435-1CF3-F8FB99D18331}"/>
              </a:ext>
            </a:extLst>
          </p:cNvPr>
          <p:cNvSpPr txBox="1"/>
          <p:nvPr/>
        </p:nvSpPr>
        <p:spPr>
          <a:xfrm>
            <a:off x="3970139" y="5348304"/>
            <a:ext cx="7708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Performance Tiers:</a:t>
            </a:r>
            <a:r>
              <a:rPr lang="en-US" sz="1400" dirty="0"/>
              <a:t> The North and the South Zones represent two distinct performance tiers</a:t>
            </a:r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9ADFD-9727-586B-F27F-BE710F6B5947}"/>
              </a:ext>
            </a:extLst>
          </p:cNvPr>
          <p:cNvSpPr txBox="1"/>
          <p:nvPr/>
        </p:nvSpPr>
        <p:spPr>
          <a:xfrm>
            <a:off x="6265069" y="4738700"/>
            <a:ext cx="6097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10.1%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percentage point difference between the top-performing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zone (North) and the lowest-performing zone (South).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B52213-2792-F17C-73B8-EA06BFB3E39E}"/>
              </a:ext>
            </a:extLst>
          </p:cNvPr>
          <p:cNvSpPr txBox="1"/>
          <p:nvPr/>
        </p:nvSpPr>
        <p:spPr>
          <a:xfrm>
            <a:off x="3970139" y="5805663"/>
            <a:ext cx="6318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Middle: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East and West Zones perform almost identically, clustering around the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71%-72%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mark, just above the Average Performer threshold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44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B147-163D-6A85-AEFC-85F1F75B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063" y="123612"/>
            <a:ext cx="8538368" cy="514350"/>
          </a:xfrm>
        </p:spPr>
        <p:txBody>
          <a:bodyPr>
            <a:noAutofit/>
          </a:bodyPr>
          <a:lstStyle/>
          <a:p>
            <a:r>
              <a:rPr lang="en-US" sz="2400" b="1" dirty="0"/>
              <a:t>-----------High Performer Analysis----------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893F72-5D22-F11F-6AF2-EB3620565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2106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0B747E-844C-DE30-ABB7-9F5F4191B329}"/>
              </a:ext>
            </a:extLst>
          </p:cNvPr>
          <p:cNvSpPr txBox="1"/>
          <p:nvPr/>
        </p:nvSpPr>
        <p:spPr>
          <a:xfrm>
            <a:off x="3605808" y="3729456"/>
            <a:ext cx="6097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Key finding:-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17683-2F5B-0349-43B3-A0FBB63FB767}"/>
              </a:ext>
            </a:extLst>
          </p:cNvPr>
          <p:cNvSpPr txBox="1"/>
          <p:nvPr/>
        </p:nvSpPr>
        <p:spPr>
          <a:xfrm>
            <a:off x="4728170" y="3729456"/>
            <a:ext cx="6097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lang="en-US" altLang="en-US" sz="1400" dirty="0">
                <a:latin typeface="Google Sans Text"/>
              </a:rPr>
              <a:t>East zone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has the highest concentration of High Performers 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50%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demonstrating an effective regional model for success.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0451A-B0CC-EB40-B264-46743980C362}"/>
              </a:ext>
            </a:extLst>
          </p:cNvPr>
          <p:cNvSpPr txBox="1"/>
          <p:nvPr/>
        </p:nvSpPr>
        <p:spPr>
          <a:xfrm>
            <a:off x="3605808" y="4558244"/>
            <a:ext cx="6097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Contrast:-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is significantly higher than the overall company average of 16.4%and dwarfs the performance of  the West and South Zones in this metric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66A2F0-7C29-16EB-0589-BFCAA4E339DF}"/>
              </a:ext>
            </a:extLst>
          </p:cNvPr>
          <p:cNvSpPr txBox="1"/>
          <p:nvPr/>
        </p:nvSpPr>
        <p:spPr>
          <a:xfrm>
            <a:off x="3605808" y="5391209"/>
            <a:ext cx="7288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Insight:-</a:t>
            </a:r>
            <a:r>
              <a:rPr lang="en-US" sz="1400" dirty="0"/>
              <a:t>The East Zone should be prioritized for knowledge extraction to establish standardized the best practices for high performance across the entire organization</a:t>
            </a:r>
            <a:endParaRPr lang="en-IN" sz="14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0E6BFA0-B0E8-EAE1-8990-44426F9D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743331"/>
              </p:ext>
            </p:extLst>
          </p:nvPr>
        </p:nvGraphicFramePr>
        <p:xfrm>
          <a:off x="3657601" y="984644"/>
          <a:ext cx="7236618" cy="2051448"/>
        </p:xfrm>
        <a:graphic>
          <a:graphicData uri="http://schemas.openxmlformats.org/drawingml/2006/table">
            <a:tbl>
              <a:tblPr/>
              <a:tblGrid>
                <a:gridCol w="2196830">
                  <a:extLst>
                    <a:ext uri="{9D8B030D-6E8A-4147-A177-3AD203B41FA5}">
                      <a16:colId xmlns:a16="http://schemas.microsoft.com/office/drawing/2014/main" val="3186123605"/>
                    </a:ext>
                  </a:extLst>
                </a:gridCol>
                <a:gridCol w="5039788">
                  <a:extLst>
                    <a:ext uri="{9D8B030D-6E8A-4147-A177-3AD203B41FA5}">
                      <a16:colId xmlns:a16="http://schemas.microsoft.com/office/drawing/2014/main" val="260831312"/>
                    </a:ext>
                  </a:extLst>
                </a:gridCol>
              </a:tblGrid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Performer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318649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9C5700"/>
                          </a:solidFill>
                          <a:effectLst/>
                          <a:latin typeface="Calibri" panose="020F0502020204030204" pitchFamily="34" charset="0"/>
                        </a:rPr>
                        <a:t>East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810280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265910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99802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925872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5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44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F6E1-3A6A-9F96-3F18-893DC9CB7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899" y="53752"/>
            <a:ext cx="8129587" cy="571499"/>
          </a:xfrm>
        </p:spPr>
        <p:txBody>
          <a:bodyPr>
            <a:normAutofit/>
          </a:bodyPr>
          <a:lstStyle/>
          <a:p>
            <a:r>
              <a:rPr lang="en-US" sz="2400" b="1" dirty="0"/>
              <a:t>-------------Visualizations------------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E0179-0246-D8F6-1FFC-CAE74FC23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00475" cy="6858000"/>
          </a:xfr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E44B5A6-E9F4-8422-48CB-1440370218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9946229"/>
              </p:ext>
            </p:extLst>
          </p:nvPr>
        </p:nvGraphicFramePr>
        <p:xfrm>
          <a:off x="4003607" y="752142"/>
          <a:ext cx="4075974" cy="2581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3E6D143-4F29-4D78-3CE0-6B6B679330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2417485"/>
              </p:ext>
            </p:extLst>
          </p:nvPr>
        </p:nvGraphicFramePr>
        <p:xfrm>
          <a:off x="7672387" y="752142"/>
          <a:ext cx="4622006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ECAC30-AD76-161A-0ACE-E727EA79897A}"/>
              </a:ext>
            </a:extLst>
          </p:cNvPr>
          <p:cNvSpPr txBox="1"/>
          <p:nvPr/>
        </p:nvSpPr>
        <p:spPr>
          <a:xfrm>
            <a:off x="4094922" y="3514726"/>
            <a:ext cx="3893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Chart: Average Evaluation Score </a:t>
            </a:r>
          </a:p>
          <a:p>
            <a:r>
              <a:rPr lang="en-US" dirty="0"/>
              <a:t>                     By Zone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11D79-5F28-3205-5B5D-ADD4777C9BED}"/>
              </a:ext>
            </a:extLst>
          </p:cNvPr>
          <p:cNvSpPr txBox="1"/>
          <p:nvPr/>
        </p:nvSpPr>
        <p:spPr>
          <a:xfrm>
            <a:off x="8548686" y="3514725"/>
            <a:ext cx="3893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Chart: High Performer</a:t>
            </a:r>
          </a:p>
          <a:p>
            <a:r>
              <a:rPr lang="en-US" dirty="0"/>
              <a:t>                     Analysis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BA1FC73-8E11-3771-FCB9-C7A50CE762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801289"/>
              </p:ext>
            </p:extLst>
          </p:nvPr>
        </p:nvGraphicFramePr>
        <p:xfrm>
          <a:off x="4094922" y="4414838"/>
          <a:ext cx="5662214" cy="2193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A103C1-6DFD-66D2-A9E4-C91CB25CDECE}"/>
              </a:ext>
            </a:extLst>
          </p:cNvPr>
          <p:cNvSpPr txBox="1"/>
          <p:nvPr/>
        </p:nvSpPr>
        <p:spPr>
          <a:xfrm>
            <a:off x="10074203" y="4905529"/>
            <a:ext cx="15558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 Chart: Average</a:t>
            </a:r>
          </a:p>
          <a:p>
            <a:r>
              <a:rPr lang="en-US" dirty="0"/>
              <a:t> Evaluation Overtime</a:t>
            </a:r>
          </a:p>
        </p:txBody>
      </p:sp>
    </p:spTree>
    <p:extLst>
      <p:ext uri="{BB962C8B-B14F-4D97-AF65-F5344CB8AC3E}">
        <p14:creationId xmlns:p14="http://schemas.microsoft.com/office/powerpoint/2010/main" val="1628503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EBB1-15B1-021E-C524-B0A4BC2D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971" y="128261"/>
            <a:ext cx="8195467" cy="464344"/>
          </a:xfrm>
        </p:spPr>
        <p:txBody>
          <a:bodyPr>
            <a:normAutofit/>
          </a:bodyPr>
          <a:lstStyle/>
          <a:p>
            <a:r>
              <a:rPr lang="en-US" sz="2400" b="1" dirty="0"/>
              <a:t>-----------Visualization----------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6CE6DE-49A8-82DF-AC8A-8474DB177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08413" cy="685800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5BD60F-E52E-B083-9C4A-9E6271DDA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96442"/>
              </p:ext>
            </p:extLst>
          </p:nvPr>
        </p:nvGraphicFramePr>
        <p:xfrm>
          <a:off x="3871912" y="915429"/>
          <a:ext cx="8129587" cy="1341994"/>
        </p:xfrm>
        <a:graphic>
          <a:graphicData uri="http://schemas.openxmlformats.org/drawingml/2006/table">
            <a:tbl>
              <a:tblPr>
                <a:effectLst>
                  <a:outerShdw blurRad="50800" dist="50800" dir="5400000" sx="87000" sy="87000" algn="ctr" rotWithShape="0">
                    <a:srgbClr val="000000">
                      <a:alpha val="43137"/>
                    </a:srgbClr>
                  </a:outerShdw>
                </a:effectLst>
              </a:tblPr>
              <a:tblGrid>
                <a:gridCol w="515202">
                  <a:extLst>
                    <a:ext uri="{9D8B030D-6E8A-4147-A177-3AD203B41FA5}">
                      <a16:colId xmlns:a16="http://schemas.microsoft.com/office/drawing/2014/main" val="743206486"/>
                    </a:ext>
                  </a:extLst>
                </a:gridCol>
                <a:gridCol w="825838">
                  <a:extLst>
                    <a:ext uri="{9D8B030D-6E8A-4147-A177-3AD203B41FA5}">
                      <a16:colId xmlns:a16="http://schemas.microsoft.com/office/drawing/2014/main" val="2849803864"/>
                    </a:ext>
                  </a:extLst>
                </a:gridCol>
                <a:gridCol w="931910">
                  <a:extLst>
                    <a:ext uri="{9D8B030D-6E8A-4147-A177-3AD203B41FA5}">
                      <a16:colId xmlns:a16="http://schemas.microsoft.com/office/drawing/2014/main" val="4220897197"/>
                    </a:ext>
                  </a:extLst>
                </a:gridCol>
                <a:gridCol w="984945">
                  <a:extLst>
                    <a:ext uri="{9D8B030D-6E8A-4147-A177-3AD203B41FA5}">
                      <a16:colId xmlns:a16="http://schemas.microsoft.com/office/drawing/2014/main" val="3091086689"/>
                    </a:ext>
                  </a:extLst>
                </a:gridCol>
                <a:gridCol w="1227394">
                  <a:extLst>
                    <a:ext uri="{9D8B030D-6E8A-4147-A177-3AD203B41FA5}">
                      <a16:colId xmlns:a16="http://schemas.microsoft.com/office/drawing/2014/main" val="3349550884"/>
                    </a:ext>
                  </a:extLst>
                </a:gridCol>
                <a:gridCol w="1181934">
                  <a:extLst>
                    <a:ext uri="{9D8B030D-6E8A-4147-A177-3AD203B41FA5}">
                      <a16:colId xmlns:a16="http://schemas.microsoft.com/office/drawing/2014/main" val="2755981189"/>
                    </a:ext>
                  </a:extLst>
                </a:gridCol>
                <a:gridCol w="1030404">
                  <a:extLst>
                    <a:ext uri="{9D8B030D-6E8A-4147-A177-3AD203B41FA5}">
                      <a16:colId xmlns:a16="http://schemas.microsoft.com/office/drawing/2014/main" val="243319698"/>
                    </a:ext>
                  </a:extLst>
                </a:gridCol>
                <a:gridCol w="1431960">
                  <a:extLst>
                    <a:ext uri="{9D8B030D-6E8A-4147-A177-3AD203B41FA5}">
                      <a16:colId xmlns:a16="http://schemas.microsoft.com/office/drawing/2014/main" val="1586091046"/>
                    </a:ext>
                  </a:extLst>
                </a:gridCol>
              </a:tblGrid>
              <a:tr h="3211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DISCOVERY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STORE AMBIANCE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FIRST IMPRESSIONS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OBJECTION HANDLING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RECOMMENDATIONS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CLOSURE &amp; CARE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TRIAL EXPERIENCE &amp; UPSELL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98702"/>
                  </a:ext>
                </a:extLst>
              </a:tr>
              <a:tr h="1749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45.71428571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572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80.85714286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71.28571429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7833"/>
                  </a:ext>
                </a:extLst>
              </a:tr>
              <a:tr h="1749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66.68421053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63.15789474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63.78947368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75.21052632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837336"/>
                  </a:ext>
                </a:extLst>
              </a:tr>
              <a:tr h="1749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62.22222222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81.5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53.66666667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49.11111111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51.61111111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06719"/>
                  </a:ext>
                </a:extLst>
              </a:tr>
              <a:tr h="1749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68.23529412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80.47058824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58.82352941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67.82352941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781148"/>
                  </a:ext>
                </a:extLst>
              </a:tr>
              <a:tr h="3211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67.54098361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5038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76.52459016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60.08196721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55.16393443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65.36065574</a:t>
                      </a:r>
                    </a:p>
                  </a:txBody>
                  <a:tcPr marL="4669" marR="4669" marT="466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502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29322B-47DA-20EB-99BF-2D6581DCDC81}"/>
              </a:ext>
            </a:extLst>
          </p:cNvPr>
          <p:cNvSpPr txBox="1"/>
          <p:nvPr/>
        </p:nvSpPr>
        <p:spPr>
          <a:xfrm>
            <a:off x="5507832" y="2307861"/>
            <a:ext cx="520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                        Heatmap: Breakdown By Evaluation</a:t>
            </a:r>
            <a:endParaRPr lang="en-IN" sz="1400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B3B92FB-D47C-6AFF-0EF6-0869F92685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960202"/>
              </p:ext>
            </p:extLst>
          </p:nvPr>
        </p:nvGraphicFramePr>
        <p:xfrm>
          <a:off x="4556520" y="2938462"/>
          <a:ext cx="682625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5760119-2B1F-1D38-4D0A-BFA3A74A9750}"/>
              </a:ext>
            </a:extLst>
          </p:cNvPr>
          <p:cNvSpPr txBox="1"/>
          <p:nvPr/>
        </p:nvSpPr>
        <p:spPr>
          <a:xfrm>
            <a:off x="6334720" y="5788682"/>
            <a:ext cx="6097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 Stacked Bar Chart: High Vs Low Performer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393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68CB-2375-BE90-8A64-776DD82A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737" y="254722"/>
            <a:ext cx="8205786" cy="371473"/>
          </a:xfrm>
        </p:spPr>
        <p:txBody>
          <a:bodyPr>
            <a:noAutofit/>
          </a:bodyPr>
          <a:lstStyle/>
          <a:p>
            <a:r>
              <a:rPr lang="en-US" sz="2400" b="1" dirty="0"/>
              <a:t>-------------Key Insights-------------</a:t>
            </a:r>
            <a:endParaRPr lang="en-IN" sz="24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4DA4B1-EA21-3575-91C8-3541DB66E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8737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940186D-B90E-A948-659C-4584D626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542627"/>
            <a:ext cx="8035441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79757-9817-BBB6-DE9C-9792B37ACBA9}"/>
              </a:ext>
            </a:extLst>
          </p:cNvPr>
          <p:cNvSpPr txBox="1"/>
          <p:nvPr/>
        </p:nvSpPr>
        <p:spPr>
          <a:xfrm>
            <a:off x="4119239" y="1081236"/>
            <a:ext cx="793973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400" b="1" dirty="0"/>
              <a:t>Performance Distribution &amp; Quality:-</a:t>
            </a:r>
          </a:p>
          <a:p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Health Check:</a:t>
            </a:r>
            <a:r>
              <a:rPr lang="en-US" sz="1400" dirty="0"/>
              <a:t> The majority of the workforce falls into the</a:t>
            </a:r>
            <a:r>
              <a:rPr lang="en-US" sz="1400" b="1" dirty="0"/>
              <a:t> </a:t>
            </a:r>
            <a:r>
              <a:rPr lang="en-US" sz="1400" dirty="0"/>
              <a:t>Average categories, but a [7.14%] concentration in the "Bottom" tier indicates a need for targeted intervention.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Success Blueprint:</a:t>
            </a:r>
            <a:r>
              <a:rPr lang="en-US" sz="1400" dirty="0"/>
              <a:t> Regions with  50%  High Performers (e.g., East) serve as internal benchmarks for best practices in talent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2. Regional Variance &amp; Scores:-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Consistency Leaders</a:t>
            </a:r>
            <a:r>
              <a:rPr lang="en-US" sz="1400" dirty="0"/>
              <a:t>:  North maintain consistently high average evaluation scores, indicating stable operational standards.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Improvement Zones</a:t>
            </a:r>
            <a:r>
              <a:rPr lang="en-US" sz="1400" dirty="0"/>
              <a:t>: South reflects lower-than-average scores; initial data suggests issues in that require immediate address.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3.  Strategic Summary:-</a:t>
            </a:r>
            <a:r>
              <a:rPr lang="en-US" sz="1400" dirty="0"/>
              <a:t> 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 By scaling the success of our High-Performer clusters and stabilizing the score volatility in underperforming regions, we can improve overall organizational output by an estimated [50%].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45506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FA15-5FC7-A7AE-6A93-2333A5BA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878" y="0"/>
            <a:ext cx="8058149" cy="364331"/>
          </a:xfrm>
        </p:spPr>
        <p:txBody>
          <a:bodyPr>
            <a:noAutofit/>
          </a:bodyPr>
          <a:lstStyle/>
          <a:p>
            <a:r>
              <a:rPr lang="en-US" sz="2400" b="1" dirty="0"/>
              <a:t>-----------Recommendations-----------</a:t>
            </a:r>
            <a:endParaRPr lang="en-IN" sz="2400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0351E6C-E257-164E-E8DF-40C1ECB20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5663" cy="6858000"/>
          </a:xfr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0F0C201-4371-2C1C-3CFA-0CFA21165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3533"/>
              </p:ext>
            </p:extLst>
          </p:nvPr>
        </p:nvGraphicFramePr>
        <p:xfrm>
          <a:off x="2350293" y="685912"/>
          <a:ext cx="9589740" cy="198499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196580">
                  <a:extLst>
                    <a:ext uri="{9D8B030D-6E8A-4147-A177-3AD203B41FA5}">
                      <a16:colId xmlns:a16="http://schemas.microsoft.com/office/drawing/2014/main" val="321407480"/>
                    </a:ext>
                  </a:extLst>
                </a:gridCol>
                <a:gridCol w="3196580">
                  <a:extLst>
                    <a:ext uri="{9D8B030D-6E8A-4147-A177-3AD203B41FA5}">
                      <a16:colId xmlns:a16="http://schemas.microsoft.com/office/drawing/2014/main" val="1007593069"/>
                    </a:ext>
                  </a:extLst>
                </a:gridCol>
                <a:gridCol w="3196580">
                  <a:extLst>
                    <a:ext uri="{9D8B030D-6E8A-4147-A177-3AD203B41FA5}">
                      <a16:colId xmlns:a16="http://schemas.microsoft.com/office/drawing/2014/main" val="2871899310"/>
                    </a:ext>
                  </a:extLst>
                </a:gridCol>
              </a:tblGrid>
              <a:tr h="2688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Area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Recommendation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Action Item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extLst>
                  <a:ext uri="{0D108BD9-81ED-4DB2-BD59-A6C34878D82A}">
                    <a16:rowId xmlns:a16="http://schemas.microsoft.com/office/drawing/2014/main" val="2430596036"/>
                  </a:ext>
                </a:extLst>
              </a:tr>
              <a:tr h="6583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Missing Data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Implement a targeted imputation strategy.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Use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Median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for low-missing numeric data; use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'Missing'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category for key categorical data.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extLst>
                  <a:ext uri="{0D108BD9-81ED-4DB2-BD59-A6C34878D82A}">
                    <a16:rowId xmlns:a16="http://schemas.microsoft.com/office/drawing/2014/main" val="1102656230"/>
                  </a:ext>
                </a:extLst>
              </a:tr>
              <a:tr h="6583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Data Types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Enforce correct type casting.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Convert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Date/Time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columns to </a:t>
                      </a:r>
                      <a:r>
                        <a:rPr lang="en-US" sz="1600" dirty="0">
                          <a:solidFill>
                            <a:srgbClr val="444746"/>
                          </a:solidFill>
                          <a:effectLst/>
                        </a:rPr>
                        <a:t>datetime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objects for time-series analysis.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9530" marR="69530" marT="46353" marB="46353" anchor="ctr"/>
                </a:tc>
                <a:extLst>
                  <a:ext uri="{0D108BD9-81ED-4DB2-BD59-A6C34878D82A}">
                    <a16:rowId xmlns:a16="http://schemas.microsoft.com/office/drawing/2014/main" val="273315206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10B6DA7-9A60-6F9D-7F18-D9D756A223F4}"/>
              </a:ext>
            </a:extLst>
          </p:cNvPr>
          <p:cNvSpPr txBox="1"/>
          <p:nvPr/>
        </p:nvSpPr>
        <p:spPr>
          <a:xfrm>
            <a:off x="2350294" y="308492"/>
            <a:ext cx="6097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Data Quality &amp; Preparation :-</a:t>
            </a:r>
            <a:endParaRPr lang="en-IN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76E83-2C31-A07D-608C-91744CAC6E08}"/>
              </a:ext>
            </a:extLst>
          </p:cNvPr>
          <p:cNvSpPr txBox="1"/>
          <p:nvPr/>
        </p:nvSpPr>
        <p:spPr>
          <a:xfrm>
            <a:off x="2350294" y="2682698"/>
            <a:ext cx="6097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2. Analysis &amp; </a:t>
            </a:r>
            <a:r>
              <a:rPr lang="en-IN" sz="1600" b="1" dirty="0" err="1"/>
              <a:t>Modeling</a:t>
            </a:r>
            <a:r>
              <a:rPr lang="en-IN" sz="1600" b="1" dirty="0"/>
              <a:t>:-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AF33660-C494-AA4A-D50E-297DAE005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6359"/>
              </p:ext>
            </p:extLst>
          </p:nvPr>
        </p:nvGraphicFramePr>
        <p:xfrm>
          <a:off x="2350293" y="3061018"/>
          <a:ext cx="9641235" cy="173322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213745">
                  <a:extLst>
                    <a:ext uri="{9D8B030D-6E8A-4147-A177-3AD203B41FA5}">
                      <a16:colId xmlns:a16="http://schemas.microsoft.com/office/drawing/2014/main" val="1782529046"/>
                    </a:ext>
                  </a:extLst>
                </a:gridCol>
                <a:gridCol w="3213745">
                  <a:extLst>
                    <a:ext uri="{9D8B030D-6E8A-4147-A177-3AD203B41FA5}">
                      <a16:colId xmlns:a16="http://schemas.microsoft.com/office/drawing/2014/main" val="38698519"/>
                    </a:ext>
                  </a:extLst>
                </a:gridCol>
                <a:gridCol w="3213745">
                  <a:extLst>
                    <a:ext uri="{9D8B030D-6E8A-4147-A177-3AD203B41FA5}">
                      <a16:colId xmlns:a16="http://schemas.microsoft.com/office/drawing/2014/main" val="2680301891"/>
                    </a:ext>
                  </a:extLst>
                </a:gridCol>
              </a:tblGrid>
              <a:tr h="2520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Area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Recommendation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Action Item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extLst>
                  <a:ext uri="{0D108BD9-81ED-4DB2-BD59-A6C34878D82A}">
                    <a16:rowId xmlns:a16="http://schemas.microsoft.com/office/drawing/2014/main" val="3171799240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Exploratory Data Analysis (EDA)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</a:rPr>
                        <a:t>Conduct deep-dive EDA.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Visualize key distributions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and test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3-5 specific hypotheses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(e.g., relationship between region and purchase amount).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extLst>
                  <a:ext uri="{0D108BD9-81ED-4DB2-BD59-A6C34878D82A}">
                    <a16:rowId xmlns:a16="http://schemas.microsoft.com/office/drawing/2014/main" val="4011207765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Feature Engineering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Create high-impact, derived features.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Extract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Temporal features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(e.g., Day of Week) and calculate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Aggregation features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(e.g., Customer lifetime spend).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27" marR="59927" marT="39951" marB="39951" anchor="ctr"/>
                </a:tc>
                <a:extLst>
                  <a:ext uri="{0D108BD9-81ED-4DB2-BD59-A6C34878D82A}">
                    <a16:rowId xmlns:a16="http://schemas.microsoft.com/office/drawing/2014/main" val="1414409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FF45F-46D2-E496-ACBE-56F790FE8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82688"/>
              </p:ext>
            </p:extLst>
          </p:nvPr>
        </p:nvGraphicFramePr>
        <p:xfrm>
          <a:off x="2350293" y="5285611"/>
          <a:ext cx="9641235" cy="146499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213745">
                  <a:extLst>
                    <a:ext uri="{9D8B030D-6E8A-4147-A177-3AD203B41FA5}">
                      <a16:colId xmlns:a16="http://schemas.microsoft.com/office/drawing/2014/main" val="3535606381"/>
                    </a:ext>
                  </a:extLst>
                </a:gridCol>
                <a:gridCol w="3213745">
                  <a:extLst>
                    <a:ext uri="{9D8B030D-6E8A-4147-A177-3AD203B41FA5}">
                      <a16:colId xmlns:a16="http://schemas.microsoft.com/office/drawing/2014/main" val="4181530643"/>
                    </a:ext>
                  </a:extLst>
                </a:gridCol>
                <a:gridCol w="3213745">
                  <a:extLst>
                    <a:ext uri="{9D8B030D-6E8A-4147-A177-3AD203B41FA5}">
                      <a16:colId xmlns:a16="http://schemas.microsoft.com/office/drawing/2014/main" val="1827320039"/>
                    </a:ext>
                  </a:extLst>
                </a:gridCol>
              </a:tblGrid>
              <a:tr h="394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Action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914297"/>
                  </a:ext>
                </a:extLst>
              </a:tr>
              <a:tr h="1070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Ensure complete reproducibility and traceability.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Document Data Lineage (how features are created) and maintain all code using Git Version Control.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2754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27CC1B-1556-3876-A6B2-B2A0CC0C3976}"/>
              </a:ext>
            </a:extLst>
          </p:cNvPr>
          <p:cNvSpPr txBox="1"/>
          <p:nvPr/>
        </p:nvSpPr>
        <p:spPr>
          <a:xfrm>
            <a:off x="2350294" y="4853774"/>
            <a:ext cx="6097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3. Project Governance:-</a:t>
            </a:r>
          </a:p>
        </p:txBody>
      </p:sp>
    </p:spTree>
    <p:extLst>
      <p:ext uri="{BB962C8B-B14F-4D97-AF65-F5344CB8AC3E}">
        <p14:creationId xmlns:p14="http://schemas.microsoft.com/office/powerpoint/2010/main" val="258217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587D-DD43-A4F7-1C9D-7061A3F3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149" y="79780"/>
            <a:ext cx="7656344" cy="503227"/>
          </a:xfrm>
        </p:spPr>
        <p:txBody>
          <a:bodyPr>
            <a:noAutofit/>
          </a:bodyPr>
          <a:lstStyle/>
          <a:p>
            <a:r>
              <a:rPr lang="en-IN" sz="2400" b="1" dirty="0"/>
              <a:t>----------Conclusion----------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F7B1AB-9E12-EE74-31D6-BF9D0F2EE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9586" cy="6858000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B6EB47E-B1EA-9E22-53AE-06DB58FEA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4762" y="741094"/>
            <a:ext cx="8623118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Core Accomplishments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romanUcPeriod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Foundation: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Successfully cleaned and structured text[Number] records, establishing a robust, validated dataset for text[Project Area].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Finding: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Identified that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text[Specific Feature/Insight]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 the primary factor driving text[Target Variable, e.g., customer behavior/project outcome].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Performance: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Achieved a text[Metric, e.g., 90% accuracy/0.85 F1-score] with the text[Model Type] model, validating its predictive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8DB1CC-A8DD-6A86-C5D2-B5E7F5AE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4762" y="2794838"/>
            <a:ext cx="8135654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2.    Business Impact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romanUcPeriod" startAt="2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ROI Projection: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Implementing recommendations is expected to generate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text[Specific Value/Percentage, e.g., 15% increase in conversion rate]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 save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text[Specific Monetary Amount].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Actionable Insight: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findings provide a clear mandate to focus text[Resource/Budget] on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text[Specific Action, e.g., optimizing the user onboarding funnel].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F91D07B-4155-9E7F-FC47-2E7D67025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4762" y="4614549"/>
            <a:ext cx="8623118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Google Sans"/>
              </a:rPr>
              <a:t>3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   Future Outlook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b="1" dirty="0"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Immediate Step: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Launch a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pilot program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integrate the text[Model/Finding] into the text[Relevant System] within text[Timeframe].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Expansion: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Prioritize integrating text[New Data Source] to further refine the model's performance and address current text[Data Limitation].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61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987</TotalTime>
  <Words>1318</Words>
  <Application>Microsoft Office PowerPoint</Application>
  <PresentationFormat>Widescreen</PresentationFormat>
  <Paragraphs>247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Google Sans</vt:lpstr>
      <vt:lpstr>Google Sans Text</vt:lpstr>
      <vt:lpstr>Parallax</vt:lpstr>
      <vt:lpstr>Bare International Style Advisor Performance Analysis</vt:lpstr>
      <vt:lpstr>Table Of Content</vt:lpstr>
      <vt:lpstr>                             -----------------INTRODUCTION--------------</vt:lpstr>
      <vt:lpstr>-------------Data Overview------------</vt:lpstr>
      <vt:lpstr>-------------Performance Grading Scale----------------</vt:lpstr>
      <vt:lpstr>---------Pivot Table Analysis----------</vt:lpstr>
      <vt:lpstr>-----------High Performer Analysis----------</vt:lpstr>
      <vt:lpstr>-------------Visualizations------------</vt:lpstr>
      <vt:lpstr>-----------Visualization----------</vt:lpstr>
      <vt:lpstr>-------------Key Insights-------------</vt:lpstr>
      <vt:lpstr>-----------Recommendations-----------</vt:lpstr>
      <vt:lpstr>----------Conclusion----------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Shavin Mathur</dc:creator>
  <cp:lastModifiedBy>Shavin Mathur</cp:lastModifiedBy>
  <cp:revision>11</cp:revision>
  <dcterms:created xsi:type="dcterms:W3CDTF">2025-12-09T07:18:35Z</dcterms:created>
  <dcterms:modified xsi:type="dcterms:W3CDTF">2025-12-11T07:08:29Z</dcterms:modified>
</cp:coreProperties>
</file>